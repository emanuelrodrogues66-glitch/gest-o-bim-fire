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2" r:id="rId10"/>
  </p:sldIdLst>
  <p:sldSz cx="18288000" cy="10287000"/>
  <p:notesSz cx="6858000" cy="9144000"/>
  <p:embeddedFontLst>
    <p:embeddedFont>
      <p:font typeface="Canva Sans Bold" panose="020B0604020202020204" charset="0"/>
      <p:regular r:id="rId11"/>
    </p:embeddedFont>
    <p:embeddedFont>
      <p:font typeface="League Spartan" panose="020B0604020202020204" charset="0"/>
      <p:regular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Bold" panose="00000800000000000000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2" autoAdjust="0"/>
  </p:normalViewPr>
  <p:slideViewPr>
    <p:cSldViewPr>
      <p:cViewPr varScale="1">
        <p:scale>
          <a:sx n="72" d="100"/>
          <a:sy n="72" d="100"/>
        </p:scale>
        <p:origin x="63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hare.google/owvybDxMFXbutcnl9" TargetMode="External"/><Relationship Id="rId5" Type="http://schemas.openxmlformats.org/officeDocument/2006/relationships/hyperlink" Target="https://www.google.com/maps/d/viewer?hl=pt-BR&amp;mid=16nqkN9xUq4UYP0VsbffH-UpG8dWketQ&amp;ll=-25.100076216915685%2C-60.163224603638355&amp;z=7" TargetMode="Externa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0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55485" y="826032"/>
            <a:ext cx="2203815" cy="2075125"/>
          </a:xfrm>
          <a:custGeom>
            <a:avLst/>
            <a:gdLst/>
            <a:ahLst/>
            <a:cxnLst/>
            <a:rect l="l" t="t" r="r" b="b"/>
            <a:pathLst>
              <a:path w="2203815" h="2075125">
                <a:moveTo>
                  <a:pt x="0" y="0"/>
                </a:moveTo>
                <a:lnTo>
                  <a:pt x="2203815" y="0"/>
                </a:lnTo>
                <a:lnTo>
                  <a:pt x="2203815" y="2075125"/>
                </a:lnTo>
                <a:lnTo>
                  <a:pt x="0" y="207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72922" y="1104900"/>
            <a:ext cx="8935469" cy="179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43"/>
              </a:lnSpc>
            </a:pPr>
            <a:r>
              <a:rPr lang="en-US" sz="6848" b="1" dirty="0">
                <a:solidFill>
                  <a:srgbClr val="B70000"/>
                </a:solidFill>
                <a:latin typeface="Poppins Bold"/>
                <a:ea typeface="Poppins Bold"/>
                <a:cs typeface="Poppins Bold"/>
                <a:sym typeface="Poppins Bold"/>
              </a:rPr>
              <a:t>APRESENTAÇÃO ORÇAMENTARIA</a:t>
            </a:r>
          </a:p>
        </p:txBody>
      </p:sp>
      <p:sp>
        <p:nvSpPr>
          <p:cNvPr id="4" name="Freeform 4"/>
          <p:cNvSpPr/>
          <p:nvPr/>
        </p:nvSpPr>
        <p:spPr>
          <a:xfrm>
            <a:off x="119894" y="2056672"/>
            <a:ext cx="9024106" cy="8982270"/>
          </a:xfrm>
          <a:custGeom>
            <a:avLst/>
            <a:gdLst/>
            <a:ahLst/>
            <a:cxnLst/>
            <a:rect l="l" t="t" r="r" b="b"/>
            <a:pathLst>
              <a:path w="9024106" h="8982270">
                <a:moveTo>
                  <a:pt x="0" y="0"/>
                </a:moveTo>
                <a:lnTo>
                  <a:pt x="9024106" y="0"/>
                </a:lnTo>
                <a:lnTo>
                  <a:pt x="9024106" y="8982270"/>
                </a:lnTo>
                <a:lnTo>
                  <a:pt x="0" y="8982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2" b="-23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72400" y="7858083"/>
            <a:ext cx="10972800" cy="1772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ENDEREÇO DA OBRA: </a:t>
            </a:r>
            <a:r>
              <a:rPr lang="en-US" sz="2499" dirty="0">
                <a:solidFill>
                  <a:srgbClr val="150C2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AV ARAPONGAS 1369, CENTRO ARAPONGAS-PR</a:t>
            </a:r>
          </a:p>
          <a:p>
            <a:pPr>
              <a:lnSpc>
                <a:spcPts val="3499"/>
              </a:lnSpc>
            </a:pP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Cliente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pt-BR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Waldir </a:t>
            </a:r>
            <a:r>
              <a:rPr lang="pt-BR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Vecchiate</a:t>
            </a:r>
            <a:r>
              <a:rPr lang="pt-BR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Sanches</a:t>
            </a:r>
          </a:p>
          <a:p>
            <a:pPr>
              <a:lnSpc>
                <a:spcPts val="3499"/>
              </a:lnSpc>
            </a:pPr>
            <a:r>
              <a:rPr lang="pt-BR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Contato: 43 9 9976-9420</a:t>
            </a:r>
          </a:p>
          <a:p>
            <a:pPr>
              <a:lnSpc>
                <a:spcPts val="3499"/>
              </a:lnSpc>
            </a:pPr>
            <a:r>
              <a:rPr lang="pt-BR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Obra: Atualização de projeto Verona Loja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19150"/>
            <a:ext cx="7306060" cy="1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  <a:spcBef>
                <a:spcPct val="0"/>
              </a:spcBef>
            </a:pPr>
            <a:r>
              <a:rPr lang="en-US" sz="7142" b="1">
                <a:solidFill>
                  <a:srgbClr val="B70000"/>
                </a:solidFill>
                <a:latin typeface="Poppins Bold"/>
                <a:ea typeface="Poppins Bold"/>
                <a:cs typeface="Poppins Bold"/>
                <a:sym typeface="Poppins Bold"/>
              </a:rPr>
              <a:t>QUEM SOMOS? 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81178"/>
            <a:ext cx="15758329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A BIM FIRE é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uma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especializada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projetos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prevenção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incêndio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contamos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com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profissionais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capacitados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melhor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atende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-lo,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visando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principalmente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segurança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custo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beneficio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para o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cliente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398840"/>
            <a:ext cx="15159038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Fundada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2021, a BIMFIRE ENGENHARIA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tem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missão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entregar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aos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nossos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soluções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aliam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segurança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custo-benefício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. Nossa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especialização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tecnologia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BIM (Building Information Modeling)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aplicada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à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prevenção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incêndios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estamos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determinados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nos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tornar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maior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engenharia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Brasil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nessa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área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5" name="Freeform 5"/>
          <p:cNvSpPr/>
          <p:nvPr/>
        </p:nvSpPr>
        <p:spPr>
          <a:xfrm>
            <a:off x="16808391" y="604121"/>
            <a:ext cx="901818" cy="849157"/>
          </a:xfrm>
          <a:custGeom>
            <a:avLst/>
            <a:gdLst/>
            <a:ahLst/>
            <a:cxnLst/>
            <a:rect l="l" t="t" r="r" b="b"/>
            <a:pathLst>
              <a:path w="901818" h="849157">
                <a:moveTo>
                  <a:pt x="0" y="0"/>
                </a:moveTo>
                <a:lnTo>
                  <a:pt x="901818" y="0"/>
                </a:lnTo>
                <a:lnTo>
                  <a:pt x="901818" y="849158"/>
                </a:lnTo>
                <a:lnTo>
                  <a:pt x="0" y="84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08391" y="604121"/>
            <a:ext cx="901818" cy="849157"/>
          </a:xfrm>
          <a:custGeom>
            <a:avLst/>
            <a:gdLst/>
            <a:ahLst/>
            <a:cxnLst/>
            <a:rect l="l" t="t" r="r" b="b"/>
            <a:pathLst>
              <a:path w="901818" h="849157">
                <a:moveTo>
                  <a:pt x="0" y="0"/>
                </a:moveTo>
                <a:lnTo>
                  <a:pt x="901818" y="0"/>
                </a:lnTo>
                <a:lnTo>
                  <a:pt x="901818" y="849158"/>
                </a:lnTo>
                <a:lnTo>
                  <a:pt x="0" y="84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72848" y="1146823"/>
            <a:ext cx="5773741" cy="6049842"/>
          </a:xfrm>
          <a:custGeom>
            <a:avLst/>
            <a:gdLst/>
            <a:ahLst/>
            <a:cxnLst/>
            <a:rect l="l" t="t" r="r" b="b"/>
            <a:pathLst>
              <a:path w="5773741" h="6049842">
                <a:moveTo>
                  <a:pt x="0" y="0"/>
                </a:moveTo>
                <a:lnTo>
                  <a:pt x="5773741" y="0"/>
                </a:lnTo>
                <a:lnTo>
                  <a:pt x="5773741" y="6049841"/>
                </a:lnTo>
                <a:lnTo>
                  <a:pt x="0" y="6049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94571"/>
            <a:ext cx="8742708" cy="1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  <a:spcBef>
                <a:spcPct val="0"/>
              </a:spcBef>
            </a:pPr>
            <a:r>
              <a:rPr lang="en-US" sz="7142" b="1">
                <a:solidFill>
                  <a:srgbClr val="B70000"/>
                </a:solidFill>
                <a:latin typeface="Poppins Bold"/>
                <a:ea typeface="Poppins Bold"/>
                <a:cs typeface="Poppins Bold"/>
                <a:sym typeface="Poppins Bold"/>
              </a:rPr>
              <a:t>NOSSOS NÚMEROS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2107365"/>
            <a:ext cx="8602979" cy="1167989"/>
            <a:chOff x="0" y="0"/>
            <a:chExt cx="11470639" cy="1557319"/>
          </a:xfrm>
        </p:grpSpPr>
        <p:sp>
          <p:nvSpPr>
            <p:cNvPr id="6" name="TextBox 6"/>
            <p:cNvSpPr txBox="1"/>
            <p:nvPr/>
          </p:nvSpPr>
          <p:spPr>
            <a:xfrm>
              <a:off x="0" y="-47625"/>
              <a:ext cx="7604863" cy="5747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 dirty="0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Mais de 300 </a:t>
              </a:r>
              <a:r>
                <a:rPr lang="en-US" sz="2598" dirty="0" err="1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projetos</a:t>
              </a:r>
              <a:r>
                <a:rPr lang="en-US" sz="2598" dirty="0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</a:t>
              </a:r>
              <a:r>
                <a:rPr lang="en-US" sz="2598" dirty="0" err="1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completos</a:t>
              </a:r>
              <a:r>
                <a:rPr lang="en-US" sz="2598" dirty="0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50908"/>
              <a:ext cx="11470639" cy="1106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7"/>
                </a:lnSpc>
                <a:spcBef>
                  <a:spcPct val="0"/>
                </a:spcBef>
              </a:pPr>
              <a:r>
                <a:rPr lang="en-US" sz="2362" dirty="0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Cada um deles </a:t>
              </a:r>
              <a:r>
                <a:rPr lang="en-US" sz="2362" dirty="0" err="1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cuidadosamente</a:t>
              </a:r>
              <a:r>
                <a:rPr lang="en-US" sz="2362" dirty="0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362" dirty="0" err="1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planejado</a:t>
              </a:r>
              <a:r>
                <a:rPr lang="en-US" sz="2362" dirty="0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 e </a:t>
              </a:r>
              <a:r>
                <a:rPr lang="en-US" sz="2362" dirty="0" err="1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executado</a:t>
              </a:r>
              <a:r>
                <a:rPr lang="en-US" sz="2362" dirty="0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 para </a:t>
              </a:r>
              <a:r>
                <a:rPr lang="en-US" sz="2362" dirty="0" err="1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garantir</a:t>
              </a:r>
              <a:r>
                <a:rPr lang="en-US" sz="2362" dirty="0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2362" dirty="0" err="1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máxima</a:t>
              </a:r>
              <a:r>
                <a:rPr lang="en-US" sz="2362" dirty="0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362" dirty="0" err="1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segurança</a:t>
              </a:r>
              <a:r>
                <a:rPr lang="en-US" sz="2362" dirty="0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 contra </a:t>
              </a:r>
              <a:r>
                <a:rPr lang="en-US" sz="2362" dirty="0" err="1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incêndios</a:t>
              </a:r>
              <a:r>
                <a:rPr lang="en-US" sz="2362" dirty="0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684929"/>
            <a:ext cx="10344148" cy="1087884"/>
            <a:chOff x="0" y="0"/>
            <a:chExt cx="13792197" cy="1450513"/>
          </a:xfrm>
        </p:grpSpPr>
        <p:sp>
          <p:nvSpPr>
            <p:cNvPr id="9" name="TextBox 9"/>
            <p:cNvSpPr txBox="1"/>
            <p:nvPr/>
          </p:nvSpPr>
          <p:spPr>
            <a:xfrm>
              <a:off x="0" y="-47625"/>
              <a:ext cx="12405729" cy="5747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250 mil metros quadrados atendidos com excelência;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44102"/>
              <a:ext cx="13792197" cy="1106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7"/>
                </a:lnSpc>
                <a:spcBef>
                  <a:spcPct val="0"/>
                </a:spcBef>
              </a:pPr>
              <a:r>
                <a:rPr lang="en-US" sz="2362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Nossos projetos abrangem uma vasta área, comprovando nossa capacidade de manejar grandes empreendimentos com eficiência.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5959" y="5185160"/>
            <a:ext cx="8677497" cy="1167989"/>
            <a:chOff x="0" y="0"/>
            <a:chExt cx="11569997" cy="155731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47625"/>
              <a:ext cx="7086460" cy="5747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 dirty="0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Mais de 190 </a:t>
              </a:r>
              <a:r>
                <a:rPr lang="en-US" sz="2598" dirty="0" err="1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clientes</a:t>
              </a:r>
              <a:r>
                <a:rPr lang="en-US" sz="2598" dirty="0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</a:t>
              </a:r>
              <a:r>
                <a:rPr lang="en-US" sz="2598" dirty="0" err="1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satisfeitos</a:t>
              </a:r>
              <a:r>
                <a:rPr lang="en-US" sz="2598" dirty="0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450908"/>
              <a:ext cx="11569997" cy="1106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7"/>
                </a:lnSpc>
                <a:spcBef>
                  <a:spcPct val="0"/>
                </a:spcBef>
              </a:pPr>
              <a:r>
                <a:rPr lang="en-US" sz="2362">
                  <a:solidFill>
                    <a:srgbClr val="150C20"/>
                  </a:solidFill>
                  <a:latin typeface="Poppins"/>
                  <a:ea typeface="Poppins"/>
                  <a:cs typeface="Poppins"/>
                  <a:sym typeface="Poppins"/>
                </a:rPr>
                <a:t>A satisfação de nossos clientes é nossa prioridade, e isso é refletido em nossa crescente base de clientes fiéis.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65958" y="6715099"/>
            <a:ext cx="11455677" cy="907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spcBef>
                <a:spcPct val="0"/>
              </a:spcBef>
            </a:pPr>
            <a:r>
              <a:rPr lang="en-US" sz="2598" dirty="0" err="1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Presença</a:t>
            </a: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2598" dirty="0" err="1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</a:t>
            </a: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2598" dirty="0" err="1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mais</a:t>
            </a: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 60  </a:t>
            </a:r>
            <a:r>
              <a:rPr lang="en-US" sz="2598" dirty="0" err="1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cidades</a:t>
            </a: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2598" dirty="0" err="1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</a:t>
            </a: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2598" dirty="0" err="1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diferentes</a:t>
            </a: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2598" dirty="0" err="1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estados</a:t>
            </a: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do </a:t>
            </a:r>
            <a:r>
              <a:rPr lang="en-US" sz="2598" dirty="0" err="1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Brasil</a:t>
            </a: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</a:t>
            </a:r>
          </a:p>
          <a:p>
            <a:pPr algn="l">
              <a:lnSpc>
                <a:spcPts val="3638"/>
              </a:lnSpc>
              <a:spcBef>
                <a:spcPct val="0"/>
              </a:spcBef>
            </a:pPr>
            <a:endParaRPr lang="en-US" sz="2598" dirty="0">
              <a:solidFill>
                <a:srgbClr val="B7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7062805"/>
            <a:ext cx="9751767" cy="848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7"/>
              </a:lnSpc>
              <a:spcBef>
                <a:spcPct val="0"/>
              </a:spcBef>
            </a:pP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Nossa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atuação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nacional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nos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entender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atender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às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diversas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necessidades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regionais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com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precisão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362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competência</a:t>
            </a:r>
            <a:r>
              <a:rPr lang="en-US" sz="2362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281D54C9-EB96-F70F-486E-18EE27F38603}"/>
              </a:ext>
            </a:extLst>
          </p:cNvPr>
          <p:cNvSpPr txBox="1"/>
          <p:nvPr/>
        </p:nvSpPr>
        <p:spPr>
          <a:xfrm>
            <a:off x="1065958" y="8650818"/>
            <a:ext cx="11455677" cy="1831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spcBef>
                <a:spcPct val="0"/>
              </a:spcBef>
            </a:pP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5"/>
              </a:rPr>
              <a:t>CLIQUE AQUI E VEJA AS CIDADES QUE JÁ ATENDEMOS</a:t>
            </a:r>
            <a:endParaRPr lang="en-US" sz="2598" dirty="0">
              <a:solidFill>
                <a:srgbClr val="B7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3638"/>
              </a:lnSpc>
              <a:spcBef>
                <a:spcPct val="0"/>
              </a:spcBef>
            </a:pPr>
            <a:endParaRPr lang="en-US" sz="2598" dirty="0">
              <a:solidFill>
                <a:srgbClr val="B7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3638"/>
              </a:lnSpc>
              <a:spcBef>
                <a:spcPct val="0"/>
              </a:spcBef>
            </a:pPr>
            <a:r>
              <a:rPr lang="en-US" sz="2598" dirty="0">
                <a:solidFill>
                  <a:srgbClr val="B7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6"/>
              </a:rPr>
              <a:t>FEEDBACK DE NOSSOS CLIENTES NO GOOGLE</a:t>
            </a:r>
            <a:endParaRPr lang="en-US" sz="2598" dirty="0">
              <a:solidFill>
                <a:srgbClr val="B7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3638"/>
              </a:lnSpc>
              <a:spcBef>
                <a:spcPct val="0"/>
              </a:spcBef>
            </a:pPr>
            <a:endParaRPr lang="en-US" sz="2598" dirty="0">
              <a:solidFill>
                <a:srgbClr val="B7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85837"/>
            <a:ext cx="16230600" cy="6752959"/>
            <a:chOff x="0" y="-57150"/>
            <a:chExt cx="21640800" cy="9003944"/>
          </a:xfrm>
        </p:grpSpPr>
        <p:sp>
          <p:nvSpPr>
            <p:cNvPr id="3" name="TextBox 3"/>
            <p:cNvSpPr txBox="1"/>
            <p:nvPr/>
          </p:nvSpPr>
          <p:spPr>
            <a:xfrm>
              <a:off x="3669225" y="-57150"/>
              <a:ext cx="14302351" cy="663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0"/>
                </a:lnSpc>
                <a:spcBef>
                  <a:spcPct val="0"/>
                </a:spcBef>
              </a:pPr>
              <a:r>
                <a:rPr lang="en-US" sz="3021">
                  <a:solidFill>
                    <a:srgbClr val="B7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Empresas que confiam no nosso Trabalho.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969855"/>
              <a:ext cx="2466544" cy="2466544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735956" y="969855"/>
              <a:ext cx="2466544" cy="2466544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5475672" y="969855"/>
              <a:ext cx="2466544" cy="2466544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215389" y="969855"/>
              <a:ext cx="2466544" cy="2466544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0955106" y="969855"/>
              <a:ext cx="2466544" cy="2466544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694822" y="969855"/>
              <a:ext cx="2466544" cy="2466544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6434539" y="969855"/>
              <a:ext cx="2466544" cy="2466544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9174256" y="969855"/>
              <a:ext cx="2466544" cy="2466544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392982" y="1441265"/>
              <a:ext cx="1680579" cy="1523725"/>
            </a:xfrm>
            <a:custGeom>
              <a:avLst/>
              <a:gdLst/>
              <a:ahLst/>
              <a:cxnLst/>
              <a:rect l="l" t="t" r="r" b="b"/>
              <a:pathLst>
                <a:path w="1680579" h="1523725">
                  <a:moveTo>
                    <a:pt x="0" y="0"/>
                  </a:moveTo>
                  <a:lnTo>
                    <a:pt x="1680580" y="0"/>
                  </a:lnTo>
                  <a:lnTo>
                    <a:pt x="1680580" y="1523725"/>
                  </a:lnTo>
                  <a:lnTo>
                    <a:pt x="0" y="1523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2963951" y="1846615"/>
              <a:ext cx="2014315" cy="556926"/>
            </a:xfrm>
            <a:custGeom>
              <a:avLst/>
              <a:gdLst/>
              <a:ahLst/>
              <a:cxnLst/>
              <a:rect l="l" t="t" r="r" b="b"/>
              <a:pathLst>
                <a:path w="2014315" h="556926">
                  <a:moveTo>
                    <a:pt x="0" y="0"/>
                  </a:moveTo>
                  <a:lnTo>
                    <a:pt x="2014315" y="0"/>
                  </a:lnTo>
                  <a:lnTo>
                    <a:pt x="2014315" y="556926"/>
                  </a:lnTo>
                  <a:lnTo>
                    <a:pt x="0" y="556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5670342" y="1800945"/>
              <a:ext cx="2077205" cy="804366"/>
            </a:xfrm>
            <a:custGeom>
              <a:avLst/>
              <a:gdLst/>
              <a:ahLst/>
              <a:cxnLst/>
              <a:rect l="l" t="t" r="r" b="b"/>
              <a:pathLst>
                <a:path w="2077205" h="804366">
                  <a:moveTo>
                    <a:pt x="0" y="0"/>
                  </a:moveTo>
                  <a:lnTo>
                    <a:pt x="2077205" y="0"/>
                  </a:lnTo>
                  <a:lnTo>
                    <a:pt x="2077205" y="804365"/>
                  </a:lnTo>
                  <a:lnTo>
                    <a:pt x="0" y="804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3526" b="-74715"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8540118" y="1294584"/>
              <a:ext cx="1817087" cy="1817087"/>
            </a:xfrm>
            <a:custGeom>
              <a:avLst/>
              <a:gdLst/>
              <a:ahLst/>
              <a:cxnLst/>
              <a:rect l="l" t="t" r="r" b="b"/>
              <a:pathLst>
                <a:path w="1817087" h="1817087">
                  <a:moveTo>
                    <a:pt x="0" y="0"/>
                  </a:moveTo>
                  <a:lnTo>
                    <a:pt x="1817087" y="0"/>
                  </a:lnTo>
                  <a:lnTo>
                    <a:pt x="1817087" y="1817087"/>
                  </a:lnTo>
                  <a:lnTo>
                    <a:pt x="0" y="1817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>
              <a:off x="10972212" y="1160741"/>
              <a:ext cx="2449438" cy="2084773"/>
            </a:xfrm>
            <a:custGeom>
              <a:avLst/>
              <a:gdLst/>
              <a:ahLst/>
              <a:cxnLst/>
              <a:rect l="l" t="t" r="r" b="b"/>
              <a:pathLst>
                <a:path w="2449438" h="2084773">
                  <a:moveTo>
                    <a:pt x="0" y="0"/>
                  </a:moveTo>
                  <a:lnTo>
                    <a:pt x="2449438" y="0"/>
                  </a:lnTo>
                  <a:lnTo>
                    <a:pt x="2449438" y="2084773"/>
                  </a:lnTo>
                  <a:lnTo>
                    <a:pt x="0" y="2084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3015" r="-61825"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13918699" y="1563843"/>
              <a:ext cx="2018792" cy="1278568"/>
            </a:xfrm>
            <a:custGeom>
              <a:avLst/>
              <a:gdLst/>
              <a:ahLst/>
              <a:cxnLst/>
              <a:rect l="l" t="t" r="r" b="b"/>
              <a:pathLst>
                <a:path w="2018792" h="1278568">
                  <a:moveTo>
                    <a:pt x="0" y="0"/>
                  </a:moveTo>
                  <a:lnTo>
                    <a:pt x="2018791" y="0"/>
                  </a:lnTo>
                  <a:lnTo>
                    <a:pt x="2018791" y="1278568"/>
                  </a:lnTo>
                  <a:lnTo>
                    <a:pt x="0" y="127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16798769" y="1901829"/>
              <a:ext cx="1785472" cy="602597"/>
            </a:xfrm>
            <a:custGeom>
              <a:avLst/>
              <a:gdLst/>
              <a:ahLst/>
              <a:cxnLst/>
              <a:rect l="l" t="t" r="r" b="b"/>
              <a:pathLst>
                <a:path w="1785472" h="602597">
                  <a:moveTo>
                    <a:pt x="0" y="0"/>
                  </a:moveTo>
                  <a:lnTo>
                    <a:pt x="1785472" y="0"/>
                  </a:lnTo>
                  <a:lnTo>
                    <a:pt x="1785472" y="602597"/>
                  </a:lnTo>
                  <a:lnTo>
                    <a:pt x="0" y="602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19590519" y="1363584"/>
              <a:ext cx="1749595" cy="1679087"/>
            </a:xfrm>
            <a:custGeom>
              <a:avLst/>
              <a:gdLst/>
              <a:ahLst/>
              <a:cxnLst/>
              <a:rect l="l" t="t" r="r" b="b"/>
              <a:pathLst>
                <a:path w="1749595" h="1679087">
                  <a:moveTo>
                    <a:pt x="0" y="0"/>
                  </a:moveTo>
                  <a:lnTo>
                    <a:pt x="1749595" y="0"/>
                  </a:lnTo>
                  <a:lnTo>
                    <a:pt x="1749595" y="1679087"/>
                  </a:lnTo>
                  <a:lnTo>
                    <a:pt x="0" y="1679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grpSp>
          <p:nvGrpSpPr>
            <p:cNvPr id="36" name="Group 36"/>
            <p:cNvGrpSpPr/>
            <p:nvPr/>
          </p:nvGrpSpPr>
          <p:grpSpPr>
            <a:xfrm>
              <a:off x="0" y="3727525"/>
              <a:ext cx="2466544" cy="2466544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735956" y="3727525"/>
              <a:ext cx="2466544" cy="2466544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475672" y="3727525"/>
              <a:ext cx="2466544" cy="2466544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215389" y="3727525"/>
              <a:ext cx="2466544" cy="2466544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0955106" y="3727525"/>
              <a:ext cx="2466544" cy="2466544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3694822" y="3727525"/>
              <a:ext cx="2466544" cy="2466544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6434539" y="3727525"/>
              <a:ext cx="2466544" cy="2466544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9174256" y="3727525"/>
              <a:ext cx="2466544" cy="2466544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sp>
          <p:nvSpPr>
            <p:cNvPr id="60" name="Freeform 60"/>
            <p:cNvSpPr/>
            <p:nvPr/>
          </p:nvSpPr>
          <p:spPr>
            <a:xfrm>
              <a:off x="270704" y="4590486"/>
              <a:ext cx="1925136" cy="735677"/>
            </a:xfrm>
            <a:custGeom>
              <a:avLst/>
              <a:gdLst/>
              <a:ahLst/>
              <a:cxnLst/>
              <a:rect l="l" t="t" r="r" b="b"/>
              <a:pathLst>
                <a:path w="1925136" h="735677">
                  <a:moveTo>
                    <a:pt x="0" y="0"/>
                  </a:moveTo>
                  <a:lnTo>
                    <a:pt x="1925136" y="0"/>
                  </a:lnTo>
                  <a:lnTo>
                    <a:pt x="1925136" y="735677"/>
                  </a:lnTo>
                  <a:lnTo>
                    <a:pt x="0" y="735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61" name="Freeform 61"/>
            <p:cNvSpPr/>
            <p:nvPr/>
          </p:nvSpPr>
          <p:spPr>
            <a:xfrm>
              <a:off x="2735956" y="3897647"/>
              <a:ext cx="2407001" cy="2126300"/>
            </a:xfrm>
            <a:custGeom>
              <a:avLst/>
              <a:gdLst/>
              <a:ahLst/>
              <a:cxnLst/>
              <a:rect l="l" t="t" r="r" b="b"/>
              <a:pathLst>
                <a:path w="2407001" h="2126300">
                  <a:moveTo>
                    <a:pt x="0" y="0"/>
                  </a:moveTo>
                  <a:lnTo>
                    <a:pt x="2407001" y="0"/>
                  </a:lnTo>
                  <a:lnTo>
                    <a:pt x="2407001" y="2126300"/>
                  </a:lnTo>
                  <a:lnTo>
                    <a:pt x="0" y="212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6212" b="-6989"/>
              </a:stretch>
            </a:blipFill>
          </p:spPr>
        </p:sp>
        <p:sp>
          <p:nvSpPr>
            <p:cNvPr id="62" name="Freeform 62"/>
            <p:cNvSpPr/>
            <p:nvPr/>
          </p:nvSpPr>
          <p:spPr>
            <a:xfrm>
              <a:off x="5901190" y="4106407"/>
              <a:ext cx="1615509" cy="1708781"/>
            </a:xfrm>
            <a:custGeom>
              <a:avLst/>
              <a:gdLst/>
              <a:ahLst/>
              <a:cxnLst/>
              <a:rect l="l" t="t" r="r" b="b"/>
              <a:pathLst>
                <a:path w="1615509" h="1708781">
                  <a:moveTo>
                    <a:pt x="0" y="0"/>
                  </a:moveTo>
                  <a:lnTo>
                    <a:pt x="1615509" y="0"/>
                  </a:lnTo>
                  <a:lnTo>
                    <a:pt x="1615509" y="1708781"/>
                  </a:lnTo>
                  <a:lnTo>
                    <a:pt x="0" y="1708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21740" t="-16957" r="-19976" b="-16957"/>
              </a:stretch>
            </a:blipFill>
          </p:spPr>
        </p:sp>
        <p:sp>
          <p:nvSpPr>
            <p:cNvPr id="63" name="Freeform 63"/>
            <p:cNvSpPr/>
            <p:nvPr/>
          </p:nvSpPr>
          <p:spPr>
            <a:xfrm>
              <a:off x="8488562" y="4412622"/>
              <a:ext cx="1826669" cy="1091406"/>
            </a:xfrm>
            <a:custGeom>
              <a:avLst/>
              <a:gdLst/>
              <a:ahLst/>
              <a:cxnLst/>
              <a:rect l="l" t="t" r="r" b="b"/>
              <a:pathLst>
                <a:path w="1826669" h="1091406">
                  <a:moveTo>
                    <a:pt x="0" y="0"/>
                  </a:moveTo>
                  <a:lnTo>
                    <a:pt x="1826668" y="0"/>
                  </a:lnTo>
                  <a:lnTo>
                    <a:pt x="1826668" y="1091406"/>
                  </a:lnTo>
                  <a:lnTo>
                    <a:pt x="0" y="1091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64" name="Freeform 64"/>
            <p:cNvSpPr/>
            <p:nvPr/>
          </p:nvSpPr>
          <p:spPr>
            <a:xfrm>
              <a:off x="11130398" y="4106407"/>
              <a:ext cx="2133067" cy="1868023"/>
            </a:xfrm>
            <a:custGeom>
              <a:avLst/>
              <a:gdLst/>
              <a:ahLst/>
              <a:cxnLst/>
              <a:rect l="l" t="t" r="r" b="b"/>
              <a:pathLst>
                <a:path w="2133067" h="1868023">
                  <a:moveTo>
                    <a:pt x="0" y="0"/>
                  </a:moveTo>
                  <a:lnTo>
                    <a:pt x="2133066" y="0"/>
                  </a:lnTo>
                  <a:lnTo>
                    <a:pt x="2133066" y="1868023"/>
                  </a:lnTo>
                  <a:lnTo>
                    <a:pt x="0" y="186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14188"/>
              </a:stretch>
            </a:blipFill>
          </p:spPr>
        </p:sp>
        <p:sp>
          <p:nvSpPr>
            <p:cNvPr id="65" name="Freeform 65"/>
            <p:cNvSpPr/>
            <p:nvPr/>
          </p:nvSpPr>
          <p:spPr>
            <a:xfrm>
              <a:off x="14227167" y="4094730"/>
              <a:ext cx="1401854" cy="1720458"/>
            </a:xfrm>
            <a:custGeom>
              <a:avLst/>
              <a:gdLst/>
              <a:ahLst/>
              <a:cxnLst/>
              <a:rect l="l" t="t" r="r" b="b"/>
              <a:pathLst>
                <a:path w="1401854" h="1720458">
                  <a:moveTo>
                    <a:pt x="0" y="0"/>
                  </a:moveTo>
                  <a:lnTo>
                    <a:pt x="1401855" y="0"/>
                  </a:lnTo>
                  <a:lnTo>
                    <a:pt x="1401855" y="1720458"/>
                  </a:lnTo>
                  <a:lnTo>
                    <a:pt x="0" y="172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66" name="Freeform 66"/>
            <p:cNvSpPr/>
            <p:nvPr/>
          </p:nvSpPr>
          <p:spPr>
            <a:xfrm>
              <a:off x="16625481" y="4680952"/>
              <a:ext cx="2084661" cy="533673"/>
            </a:xfrm>
            <a:custGeom>
              <a:avLst/>
              <a:gdLst/>
              <a:ahLst/>
              <a:cxnLst/>
              <a:rect l="l" t="t" r="r" b="b"/>
              <a:pathLst>
                <a:path w="2084661" h="533673">
                  <a:moveTo>
                    <a:pt x="0" y="0"/>
                  </a:moveTo>
                  <a:lnTo>
                    <a:pt x="2084661" y="0"/>
                  </a:lnTo>
                  <a:lnTo>
                    <a:pt x="2084661" y="533673"/>
                  </a:lnTo>
                  <a:lnTo>
                    <a:pt x="0" y="53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  <p:sp>
          <p:nvSpPr>
            <p:cNvPr id="67" name="Freeform 67"/>
            <p:cNvSpPr/>
            <p:nvPr/>
          </p:nvSpPr>
          <p:spPr>
            <a:xfrm>
              <a:off x="19570236" y="4349159"/>
              <a:ext cx="1790161" cy="1223276"/>
            </a:xfrm>
            <a:custGeom>
              <a:avLst/>
              <a:gdLst/>
              <a:ahLst/>
              <a:cxnLst/>
              <a:rect l="l" t="t" r="r" b="b"/>
              <a:pathLst>
                <a:path w="1790161" h="1223276">
                  <a:moveTo>
                    <a:pt x="0" y="0"/>
                  </a:moveTo>
                  <a:lnTo>
                    <a:pt x="1790161" y="0"/>
                  </a:lnTo>
                  <a:lnTo>
                    <a:pt x="1790161" y="1223276"/>
                  </a:lnTo>
                  <a:lnTo>
                    <a:pt x="0" y="1223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grpSp>
          <p:nvGrpSpPr>
            <p:cNvPr id="68" name="Group 68"/>
            <p:cNvGrpSpPr/>
            <p:nvPr/>
          </p:nvGrpSpPr>
          <p:grpSpPr>
            <a:xfrm>
              <a:off x="0" y="6480250"/>
              <a:ext cx="2466544" cy="2466544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2735956" y="6480250"/>
              <a:ext cx="2466544" cy="2466544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5475672" y="6480250"/>
              <a:ext cx="2466544" cy="2466544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8215389" y="6480250"/>
              <a:ext cx="2466544" cy="2466544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10955106" y="6480250"/>
              <a:ext cx="2466544" cy="2466544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13694822" y="6480250"/>
              <a:ext cx="2466544" cy="2466544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16434539" y="6480250"/>
              <a:ext cx="2466544" cy="2466544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19174256" y="6480250"/>
              <a:ext cx="2466544" cy="2466544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076" tIns="25076" rIns="25076" bIns="25076" rtlCol="0" anchor="ctr"/>
              <a:lstStyle/>
              <a:p>
                <a:pPr algn="ctr">
                  <a:lnSpc>
                    <a:spcPts val="1669"/>
                  </a:lnSpc>
                </a:pPr>
                <a:endParaRPr/>
              </a:p>
            </p:txBody>
          </p:sp>
        </p:grpSp>
        <p:sp>
          <p:nvSpPr>
            <p:cNvPr id="92" name="Freeform 92"/>
            <p:cNvSpPr/>
            <p:nvPr/>
          </p:nvSpPr>
          <p:spPr>
            <a:xfrm>
              <a:off x="125862" y="7036395"/>
              <a:ext cx="2214821" cy="1354254"/>
            </a:xfrm>
            <a:custGeom>
              <a:avLst/>
              <a:gdLst/>
              <a:ahLst/>
              <a:cxnLst/>
              <a:rect l="l" t="t" r="r" b="b"/>
              <a:pathLst>
                <a:path w="2214821" h="1354254">
                  <a:moveTo>
                    <a:pt x="0" y="0"/>
                  </a:moveTo>
                  <a:lnTo>
                    <a:pt x="2214820" y="0"/>
                  </a:lnTo>
                  <a:lnTo>
                    <a:pt x="2214820" y="1354254"/>
                  </a:lnTo>
                  <a:lnTo>
                    <a:pt x="0" y="1354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37068" b="-26477"/>
              </a:stretch>
            </a:blipFill>
          </p:spPr>
        </p:sp>
        <p:sp>
          <p:nvSpPr>
            <p:cNvPr id="93" name="Freeform 93"/>
            <p:cNvSpPr/>
            <p:nvPr/>
          </p:nvSpPr>
          <p:spPr>
            <a:xfrm>
              <a:off x="2911918" y="7329555"/>
              <a:ext cx="2150218" cy="767935"/>
            </a:xfrm>
            <a:custGeom>
              <a:avLst/>
              <a:gdLst/>
              <a:ahLst/>
              <a:cxnLst/>
              <a:rect l="l" t="t" r="r" b="b"/>
              <a:pathLst>
                <a:path w="2150218" h="767935">
                  <a:moveTo>
                    <a:pt x="0" y="0"/>
                  </a:moveTo>
                  <a:lnTo>
                    <a:pt x="2150218" y="0"/>
                  </a:lnTo>
                  <a:lnTo>
                    <a:pt x="2150218" y="767935"/>
                  </a:lnTo>
                  <a:lnTo>
                    <a:pt x="0" y="767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  <p:sp>
          <p:nvSpPr>
            <p:cNvPr id="94" name="Freeform 94"/>
            <p:cNvSpPr/>
            <p:nvPr/>
          </p:nvSpPr>
          <p:spPr>
            <a:xfrm>
              <a:off x="5475672" y="6480250"/>
              <a:ext cx="2466544" cy="2466544"/>
            </a:xfrm>
            <a:custGeom>
              <a:avLst/>
              <a:gdLst/>
              <a:ahLst/>
              <a:cxnLst/>
              <a:rect l="l" t="t" r="r" b="b"/>
              <a:pathLst>
                <a:path w="2466544" h="2466544">
                  <a:moveTo>
                    <a:pt x="0" y="0"/>
                  </a:moveTo>
                  <a:lnTo>
                    <a:pt x="2466545" y="0"/>
                  </a:lnTo>
                  <a:lnTo>
                    <a:pt x="2466545" y="2466544"/>
                  </a:lnTo>
                  <a:lnTo>
                    <a:pt x="0" y="2466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  <p:sp>
          <p:nvSpPr>
            <p:cNvPr id="95" name="Freeform 95"/>
            <p:cNvSpPr/>
            <p:nvPr/>
          </p:nvSpPr>
          <p:spPr>
            <a:xfrm>
              <a:off x="8384496" y="7210489"/>
              <a:ext cx="2138115" cy="1084114"/>
            </a:xfrm>
            <a:custGeom>
              <a:avLst/>
              <a:gdLst/>
              <a:ahLst/>
              <a:cxnLst/>
              <a:rect l="l" t="t" r="r" b="b"/>
              <a:pathLst>
                <a:path w="2138115" h="1084114">
                  <a:moveTo>
                    <a:pt x="0" y="0"/>
                  </a:moveTo>
                  <a:lnTo>
                    <a:pt x="2138115" y="0"/>
                  </a:lnTo>
                  <a:lnTo>
                    <a:pt x="2138115" y="1084115"/>
                  </a:lnTo>
                  <a:lnTo>
                    <a:pt x="0" y="1084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96" name="Freeform 96"/>
            <p:cNvSpPr/>
            <p:nvPr/>
          </p:nvSpPr>
          <p:spPr>
            <a:xfrm>
              <a:off x="11196775" y="7460263"/>
              <a:ext cx="1983205" cy="637227"/>
            </a:xfrm>
            <a:custGeom>
              <a:avLst/>
              <a:gdLst/>
              <a:ahLst/>
              <a:cxnLst/>
              <a:rect l="l" t="t" r="r" b="b"/>
              <a:pathLst>
                <a:path w="1983205" h="637227">
                  <a:moveTo>
                    <a:pt x="0" y="0"/>
                  </a:moveTo>
                  <a:lnTo>
                    <a:pt x="1983206" y="0"/>
                  </a:lnTo>
                  <a:lnTo>
                    <a:pt x="1983206" y="637227"/>
                  </a:lnTo>
                  <a:lnTo>
                    <a:pt x="0" y="63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  <p:sp>
          <p:nvSpPr>
            <p:cNvPr id="97" name="Freeform 97"/>
            <p:cNvSpPr/>
            <p:nvPr/>
          </p:nvSpPr>
          <p:spPr>
            <a:xfrm>
              <a:off x="13775432" y="7490210"/>
              <a:ext cx="2203820" cy="577339"/>
            </a:xfrm>
            <a:custGeom>
              <a:avLst/>
              <a:gdLst/>
              <a:ahLst/>
              <a:cxnLst/>
              <a:rect l="l" t="t" r="r" b="b"/>
              <a:pathLst>
                <a:path w="2203820" h="577339">
                  <a:moveTo>
                    <a:pt x="0" y="0"/>
                  </a:moveTo>
                  <a:lnTo>
                    <a:pt x="2203820" y="0"/>
                  </a:lnTo>
                  <a:lnTo>
                    <a:pt x="2203820" y="577339"/>
                  </a:lnTo>
                  <a:lnTo>
                    <a:pt x="0" y="577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  <p:sp>
          <p:nvSpPr>
            <p:cNvPr id="98" name="Freeform 98"/>
            <p:cNvSpPr/>
            <p:nvPr/>
          </p:nvSpPr>
          <p:spPr>
            <a:xfrm>
              <a:off x="16688199" y="7197481"/>
              <a:ext cx="2006612" cy="1180160"/>
            </a:xfrm>
            <a:custGeom>
              <a:avLst/>
              <a:gdLst/>
              <a:ahLst/>
              <a:cxnLst/>
              <a:rect l="l" t="t" r="r" b="b"/>
              <a:pathLst>
                <a:path w="2006612" h="1180160">
                  <a:moveTo>
                    <a:pt x="0" y="0"/>
                  </a:moveTo>
                  <a:lnTo>
                    <a:pt x="2006612" y="0"/>
                  </a:lnTo>
                  <a:lnTo>
                    <a:pt x="2006612" y="1180160"/>
                  </a:lnTo>
                  <a:lnTo>
                    <a:pt x="0" y="11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t="-39083" b="-30945"/>
              </a:stretch>
            </a:blipFill>
          </p:spPr>
        </p:sp>
        <p:sp>
          <p:nvSpPr>
            <p:cNvPr id="99" name="Freeform 99"/>
            <p:cNvSpPr/>
            <p:nvPr/>
          </p:nvSpPr>
          <p:spPr>
            <a:xfrm>
              <a:off x="19613651" y="6896513"/>
              <a:ext cx="1596445" cy="1596445"/>
            </a:xfrm>
            <a:custGeom>
              <a:avLst/>
              <a:gdLst/>
              <a:ahLst/>
              <a:cxnLst/>
              <a:rect l="l" t="t" r="r" b="b"/>
              <a:pathLst>
                <a:path w="1596445" h="1596445">
                  <a:moveTo>
                    <a:pt x="0" y="0"/>
                  </a:moveTo>
                  <a:lnTo>
                    <a:pt x="1596445" y="0"/>
                  </a:lnTo>
                  <a:lnTo>
                    <a:pt x="1596445" y="1596444"/>
                  </a:lnTo>
                  <a:lnTo>
                    <a:pt x="0" y="1596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</p:sp>
      </p:grpSp>
      <p:sp>
        <p:nvSpPr>
          <p:cNvPr id="100" name="Freeform 100"/>
          <p:cNvSpPr/>
          <p:nvPr/>
        </p:nvSpPr>
        <p:spPr>
          <a:xfrm>
            <a:off x="16808391" y="604121"/>
            <a:ext cx="901818" cy="849157"/>
          </a:xfrm>
          <a:custGeom>
            <a:avLst/>
            <a:gdLst/>
            <a:ahLst/>
            <a:cxnLst/>
            <a:rect l="l" t="t" r="r" b="b"/>
            <a:pathLst>
              <a:path w="901818" h="849157">
                <a:moveTo>
                  <a:pt x="0" y="0"/>
                </a:moveTo>
                <a:lnTo>
                  <a:pt x="901818" y="0"/>
                </a:lnTo>
                <a:lnTo>
                  <a:pt x="901818" y="849158"/>
                </a:lnTo>
                <a:lnTo>
                  <a:pt x="0" y="84915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101" name="Freeform 81">
            <a:extLst>
              <a:ext uri="{FF2B5EF4-FFF2-40B4-BE49-F238E27FC236}">
                <a16:creationId xmlns:a16="http://schemas.microsoft.com/office/drawing/2014/main" id="{B6A396FC-16DF-95AA-6BB8-B14D06EC04CC}"/>
              </a:ext>
            </a:extLst>
          </p:cNvPr>
          <p:cNvSpPr/>
          <p:nvPr/>
        </p:nvSpPr>
        <p:spPr>
          <a:xfrm>
            <a:off x="855271" y="8135889"/>
            <a:ext cx="1849908" cy="184990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9D9D9"/>
          </a:solidFill>
        </p:spPr>
      </p:sp>
      <p:sp>
        <p:nvSpPr>
          <p:cNvPr id="102" name="Freeform 81">
            <a:extLst>
              <a:ext uri="{FF2B5EF4-FFF2-40B4-BE49-F238E27FC236}">
                <a16:creationId xmlns:a16="http://schemas.microsoft.com/office/drawing/2014/main" id="{ABBD21A4-3309-0264-3FB5-552753969502}"/>
              </a:ext>
            </a:extLst>
          </p:cNvPr>
          <p:cNvSpPr/>
          <p:nvPr/>
        </p:nvSpPr>
        <p:spPr>
          <a:xfrm>
            <a:off x="3059201" y="8135889"/>
            <a:ext cx="1849908" cy="184990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9D9D9"/>
          </a:solidFill>
        </p:spPr>
      </p:sp>
      <p:sp>
        <p:nvSpPr>
          <p:cNvPr id="103" name="Freeform 81">
            <a:extLst>
              <a:ext uri="{FF2B5EF4-FFF2-40B4-BE49-F238E27FC236}">
                <a16:creationId xmlns:a16="http://schemas.microsoft.com/office/drawing/2014/main" id="{C55F4E46-501E-D462-E8D3-4572C3CD75E1}"/>
              </a:ext>
            </a:extLst>
          </p:cNvPr>
          <p:cNvSpPr/>
          <p:nvPr/>
        </p:nvSpPr>
        <p:spPr>
          <a:xfrm>
            <a:off x="5135454" y="8130078"/>
            <a:ext cx="1849908" cy="184990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9D9D9"/>
          </a:solidFill>
        </p:spPr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4B8261DF-3DB5-3502-EE9E-9F937FE43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131" y="8845275"/>
            <a:ext cx="1497641" cy="61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5F2C6D1B-CB72-0DF9-8CF9-516FEF974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396" y="8354725"/>
            <a:ext cx="1603586" cy="1336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F1BCDD9A-718A-8B74-98D6-BA569AD75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71" y="8604362"/>
            <a:ext cx="1810507" cy="101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08391" y="604121"/>
            <a:ext cx="901818" cy="849157"/>
          </a:xfrm>
          <a:custGeom>
            <a:avLst/>
            <a:gdLst/>
            <a:ahLst/>
            <a:cxnLst/>
            <a:rect l="l" t="t" r="r" b="b"/>
            <a:pathLst>
              <a:path w="901818" h="849157">
                <a:moveTo>
                  <a:pt x="0" y="0"/>
                </a:moveTo>
                <a:lnTo>
                  <a:pt x="901818" y="0"/>
                </a:lnTo>
                <a:lnTo>
                  <a:pt x="901818" y="849158"/>
                </a:lnTo>
                <a:lnTo>
                  <a:pt x="0" y="84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7223" y="14287"/>
            <a:ext cx="6257058" cy="14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18"/>
              </a:lnSpc>
              <a:spcBef>
                <a:spcPct val="0"/>
              </a:spcBef>
            </a:pPr>
            <a:r>
              <a:rPr lang="en-US" sz="8156" b="1" dirty="0">
                <a:solidFill>
                  <a:srgbClr val="B70000"/>
                </a:solidFill>
                <a:latin typeface="Poppins Bold"/>
                <a:ea typeface="Poppins Bold"/>
                <a:cs typeface="Poppins Bold"/>
                <a:sym typeface="Poppins Bold"/>
              </a:rPr>
              <a:t>EXIGÊNCIAS​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13210" y="1448515"/>
            <a:ext cx="15756731" cy="5575941"/>
            <a:chOff x="0" y="0"/>
            <a:chExt cx="1879115" cy="5778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79116" cy="577831"/>
            </a:xfrm>
            <a:custGeom>
              <a:avLst/>
              <a:gdLst/>
              <a:ahLst/>
              <a:cxnLst/>
              <a:rect l="l" t="t" r="r" b="b"/>
              <a:pathLst>
                <a:path w="1879116" h="577831">
                  <a:moveTo>
                    <a:pt x="18423" y="0"/>
                  </a:moveTo>
                  <a:lnTo>
                    <a:pt x="1860693" y="0"/>
                  </a:lnTo>
                  <a:cubicBezTo>
                    <a:pt x="1870867" y="0"/>
                    <a:pt x="1879116" y="8248"/>
                    <a:pt x="1879116" y="18423"/>
                  </a:cubicBezTo>
                  <a:lnTo>
                    <a:pt x="1879116" y="559409"/>
                  </a:lnTo>
                  <a:cubicBezTo>
                    <a:pt x="1879116" y="569583"/>
                    <a:pt x="1870867" y="577831"/>
                    <a:pt x="1860693" y="577831"/>
                  </a:cubicBezTo>
                  <a:lnTo>
                    <a:pt x="18423" y="577831"/>
                  </a:lnTo>
                  <a:cubicBezTo>
                    <a:pt x="8248" y="577831"/>
                    <a:pt x="0" y="569583"/>
                    <a:pt x="0" y="559409"/>
                  </a:cubicBezTo>
                  <a:lnTo>
                    <a:pt x="0" y="18423"/>
                  </a:lnTo>
                  <a:cubicBezTo>
                    <a:pt x="0" y="8248"/>
                    <a:pt x="8248" y="0"/>
                    <a:pt x="18423" y="0"/>
                  </a:cubicBezTo>
                  <a:close/>
                </a:path>
              </a:pathLst>
            </a:custGeom>
            <a:solidFill>
              <a:srgbClr val="B7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79115" cy="615931"/>
            </a:xfrm>
            <a:prstGeom prst="rect">
              <a:avLst/>
            </a:prstGeom>
          </p:spPr>
          <p:txBody>
            <a:bodyPr lIns="150644" tIns="150644" rIns="150644" bIns="150644" rtlCol="0" anchor="ctr"/>
            <a:lstStyle/>
            <a:p>
              <a:pPr algn="ctr">
                <a:lnSpc>
                  <a:spcPts val="181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31761" y="2348067"/>
            <a:ext cx="15319627" cy="42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ACESSO DE VIATURAS NA EDIFICAÇÃO:</a:t>
            </a:r>
          </a:p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ALARME DE INCÊNDIO:</a:t>
            </a:r>
          </a:p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CONTROLE DE MATERIAIS DE ACABAMENTO:</a:t>
            </a:r>
          </a:p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EXTINTORES:</a:t>
            </a:r>
          </a:p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HIDRANTES :</a:t>
            </a:r>
          </a:p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ILUMINAÇÃO DE EMERGÊNCIA:</a:t>
            </a:r>
          </a:p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SAÍDAS DE EMERGÊNCIA:</a:t>
            </a:r>
          </a:p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SINALIZAÇÃO DE EMERGÊNCIA:</a:t>
            </a:r>
          </a:p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SEGURANÇA ESTRUTURAL CONTRA INCÊNDIO:</a:t>
            </a:r>
          </a:p>
          <a:p>
            <a:pPr marL="516073" lvl="1" indent="-258036" algn="l">
              <a:lnSpc>
                <a:spcPts val="3346"/>
              </a:lnSpc>
              <a:buFont typeface="Arial"/>
              <a:buChar char="•"/>
            </a:pPr>
            <a:r>
              <a:rPr lang="en-US" sz="2390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COMPARTIMENTAÇÃO HORIZONTAL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67878E-0E8C-4F8B-32BC-D0C271E1155F}"/>
              </a:ext>
            </a:extLst>
          </p:cNvPr>
          <p:cNvSpPr txBox="1"/>
          <p:nvPr/>
        </p:nvSpPr>
        <p:spPr>
          <a:xfrm>
            <a:off x="9144000" y="2353037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8037" lvl="1" algn="l">
              <a:lnSpc>
                <a:spcPts val="3346"/>
              </a:lnSpc>
            </a:pPr>
            <a:r>
              <a:rPr lang="en-US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ÁREA TOTAL EXISTENTE: 9.928,93m²</a:t>
            </a:r>
          </a:p>
          <a:p>
            <a:pPr marL="258037" lvl="1" algn="l">
              <a:lnSpc>
                <a:spcPts val="3346"/>
              </a:lnSpc>
            </a:pPr>
            <a:r>
              <a:rPr lang="en-US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ÁREA A SER AMPLIADA: </a:t>
            </a:r>
            <a:r>
              <a:rPr lang="en-US" b="1" spc="-1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aproximadamente</a:t>
            </a:r>
            <a:r>
              <a:rPr lang="en-US" b="1" spc="-1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1.000,00m²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08391" y="604121"/>
            <a:ext cx="901818" cy="849157"/>
          </a:xfrm>
          <a:custGeom>
            <a:avLst/>
            <a:gdLst/>
            <a:ahLst/>
            <a:cxnLst/>
            <a:rect l="l" t="t" r="r" b="b"/>
            <a:pathLst>
              <a:path w="901818" h="849157">
                <a:moveTo>
                  <a:pt x="0" y="0"/>
                </a:moveTo>
                <a:lnTo>
                  <a:pt x="901818" y="0"/>
                </a:lnTo>
                <a:lnTo>
                  <a:pt x="901818" y="849158"/>
                </a:lnTo>
                <a:lnTo>
                  <a:pt x="0" y="84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65996"/>
            <a:ext cx="7656712" cy="1389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18"/>
              </a:lnSpc>
              <a:spcBef>
                <a:spcPct val="0"/>
              </a:spcBef>
            </a:pPr>
            <a:r>
              <a:rPr lang="en-US" sz="8156" b="1" dirty="0">
                <a:solidFill>
                  <a:srgbClr val="B7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ESCOPO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02469" y="2152710"/>
            <a:ext cx="11869143" cy="5124389"/>
            <a:chOff x="0" y="0"/>
            <a:chExt cx="1173560" cy="3833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73560" cy="383342"/>
            </a:xfrm>
            <a:custGeom>
              <a:avLst/>
              <a:gdLst/>
              <a:ahLst/>
              <a:cxnLst/>
              <a:rect l="l" t="t" r="r" b="b"/>
              <a:pathLst>
                <a:path w="1173560" h="383342">
                  <a:moveTo>
                    <a:pt x="24134" y="0"/>
                  </a:moveTo>
                  <a:lnTo>
                    <a:pt x="1149426" y="0"/>
                  </a:lnTo>
                  <a:cubicBezTo>
                    <a:pt x="1155827" y="0"/>
                    <a:pt x="1161966" y="2543"/>
                    <a:pt x="1166492" y="7069"/>
                  </a:cubicBezTo>
                  <a:cubicBezTo>
                    <a:pt x="1171018" y="11595"/>
                    <a:pt x="1173560" y="17733"/>
                    <a:pt x="1173560" y="24134"/>
                  </a:cubicBezTo>
                  <a:lnTo>
                    <a:pt x="1173560" y="359208"/>
                  </a:lnTo>
                  <a:cubicBezTo>
                    <a:pt x="1173560" y="365608"/>
                    <a:pt x="1171018" y="371747"/>
                    <a:pt x="1166492" y="376273"/>
                  </a:cubicBezTo>
                  <a:cubicBezTo>
                    <a:pt x="1161966" y="380799"/>
                    <a:pt x="1155827" y="383342"/>
                    <a:pt x="1149426" y="383342"/>
                  </a:cubicBezTo>
                  <a:lnTo>
                    <a:pt x="24134" y="383342"/>
                  </a:lnTo>
                  <a:cubicBezTo>
                    <a:pt x="17733" y="383342"/>
                    <a:pt x="11595" y="380799"/>
                    <a:pt x="7069" y="376273"/>
                  </a:cubicBezTo>
                  <a:cubicBezTo>
                    <a:pt x="2543" y="371747"/>
                    <a:pt x="0" y="365608"/>
                    <a:pt x="0" y="359208"/>
                  </a:cubicBezTo>
                  <a:lnTo>
                    <a:pt x="0" y="24134"/>
                  </a:lnTo>
                  <a:cubicBezTo>
                    <a:pt x="0" y="17733"/>
                    <a:pt x="2543" y="11595"/>
                    <a:pt x="7069" y="7069"/>
                  </a:cubicBezTo>
                  <a:cubicBezTo>
                    <a:pt x="11595" y="2543"/>
                    <a:pt x="17733" y="0"/>
                    <a:pt x="24134" y="0"/>
                  </a:cubicBezTo>
                  <a:close/>
                </a:path>
              </a:pathLst>
            </a:custGeom>
            <a:solidFill>
              <a:srgbClr val="B7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73560" cy="421442"/>
            </a:xfrm>
            <a:prstGeom prst="rect">
              <a:avLst/>
            </a:prstGeom>
          </p:spPr>
          <p:txBody>
            <a:bodyPr lIns="184127" tIns="184127" rIns="184127" bIns="184127" rtlCol="0" anchor="ctr"/>
            <a:lstStyle/>
            <a:p>
              <a:pPr algn="ctr">
                <a:lnSpc>
                  <a:spcPts val="181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02469" y="2341258"/>
            <a:ext cx="11210514" cy="3119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780" lvl="1" indent="-315390" algn="l">
              <a:lnSpc>
                <a:spcPts val="4090"/>
              </a:lnSpc>
              <a:buFont typeface="Arial"/>
              <a:buChar char="•"/>
            </a:pPr>
            <a:r>
              <a:rPr lang="en-US" sz="2921" b="1" spc="-14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ATUALIZAÇÃO DE PROJETO LEGAL PARA APROVAÇÃO JUNTO AO CORPO DE BOMBEIROS, CONTEMPLANDO COMPARTIMENTAÇÃO ENTRE A ÁREA EXISTENTE E ÁREA A SER AMPLIADA:</a:t>
            </a:r>
          </a:p>
          <a:p>
            <a:pPr marL="630780" lvl="1" indent="-315390" algn="l">
              <a:lnSpc>
                <a:spcPts val="4090"/>
              </a:lnSpc>
              <a:buFont typeface="Arial"/>
              <a:buChar char="•"/>
            </a:pPr>
            <a:r>
              <a:rPr lang="en-US" sz="2921" b="1" spc="-14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PREVISÃO DE  DEMAIS MEDIDAS DE SEGURANÇA EM CONFORMIDADE COM AS EXIGÊNCIAS DO  CSCIP-PR.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383877-454E-75C5-DB07-0FAC68A39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274B93-9F0D-1726-6AAA-F3D09EB8545E}"/>
              </a:ext>
            </a:extLst>
          </p:cNvPr>
          <p:cNvSpPr/>
          <p:nvPr/>
        </p:nvSpPr>
        <p:spPr>
          <a:xfrm>
            <a:off x="16808391" y="604121"/>
            <a:ext cx="901818" cy="849157"/>
          </a:xfrm>
          <a:custGeom>
            <a:avLst/>
            <a:gdLst/>
            <a:ahLst/>
            <a:cxnLst/>
            <a:rect l="l" t="t" r="r" b="b"/>
            <a:pathLst>
              <a:path w="901818" h="849157">
                <a:moveTo>
                  <a:pt x="0" y="0"/>
                </a:moveTo>
                <a:lnTo>
                  <a:pt x="901818" y="0"/>
                </a:lnTo>
                <a:lnTo>
                  <a:pt x="901818" y="849158"/>
                </a:lnTo>
                <a:lnTo>
                  <a:pt x="0" y="84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DB7327A-E1D1-50E7-C096-AA4AEFEDD0E0}"/>
              </a:ext>
            </a:extLst>
          </p:cNvPr>
          <p:cNvSpPr txBox="1"/>
          <p:nvPr/>
        </p:nvSpPr>
        <p:spPr>
          <a:xfrm>
            <a:off x="1028700" y="365996"/>
            <a:ext cx="7656712" cy="14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18"/>
              </a:lnSpc>
              <a:spcBef>
                <a:spcPct val="0"/>
              </a:spcBef>
            </a:pPr>
            <a:r>
              <a:rPr lang="en-US" sz="8156" b="1">
                <a:solidFill>
                  <a:srgbClr val="B70000"/>
                </a:solidFill>
                <a:latin typeface="Poppins Bold"/>
                <a:ea typeface="Poppins Bold"/>
                <a:cs typeface="Poppins Bold"/>
                <a:sym typeface="Poppins Bold"/>
              </a:rPr>
              <a:t>ENTREGÁVEIS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4D643EA-A394-A57C-8A28-4C786F2CFD77}"/>
              </a:ext>
            </a:extLst>
          </p:cNvPr>
          <p:cNvGrpSpPr/>
          <p:nvPr/>
        </p:nvGrpSpPr>
        <p:grpSpPr>
          <a:xfrm>
            <a:off x="702469" y="2152710"/>
            <a:ext cx="11869143" cy="5124389"/>
            <a:chOff x="0" y="0"/>
            <a:chExt cx="1173560" cy="38334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82A6E91-C455-926B-97C3-E07550494598}"/>
                </a:ext>
              </a:extLst>
            </p:cNvPr>
            <p:cNvSpPr/>
            <p:nvPr/>
          </p:nvSpPr>
          <p:spPr>
            <a:xfrm>
              <a:off x="0" y="0"/>
              <a:ext cx="1173560" cy="383342"/>
            </a:xfrm>
            <a:custGeom>
              <a:avLst/>
              <a:gdLst/>
              <a:ahLst/>
              <a:cxnLst/>
              <a:rect l="l" t="t" r="r" b="b"/>
              <a:pathLst>
                <a:path w="1173560" h="383342">
                  <a:moveTo>
                    <a:pt x="24134" y="0"/>
                  </a:moveTo>
                  <a:lnTo>
                    <a:pt x="1149426" y="0"/>
                  </a:lnTo>
                  <a:cubicBezTo>
                    <a:pt x="1155827" y="0"/>
                    <a:pt x="1161966" y="2543"/>
                    <a:pt x="1166492" y="7069"/>
                  </a:cubicBezTo>
                  <a:cubicBezTo>
                    <a:pt x="1171018" y="11595"/>
                    <a:pt x="1173560" y="17733"/>
                    <a:pt x="1173560" y="24134"/>
                  </a:cubicBezTo>
                  <a:lnTo>
                    <a:pt x="1173560" y="359208"/>
                  </a:lnTo>
                  <a:cubicBezTo>
                    <a:pt x="1173560" y="365608"/>
                    <a:pt x="1171018" y="371747"/>
                    <a:pt x="1166492" y="376273"/>
                  </a:cubicBezTo>
                  <a:cubicBezTo>
                    <a:pt x="1161966" y="380799"/>
                    <a:pt x="1155827" y="383342"/>
                    <a:pt x="1149426" y="383342"/>
                  </a:cubicBezTo>
                  <a:lnTo>
                    <a:pt x="24134" y="383342"/>
                  </a:lnTo>
                  <a:cubicBezTo>
                    <a:pt x="17733" y="383342"/>
                    <a:pt x="11595" y="380799"/>
                    <a:pt x="7069" y="376273"/>
                  </a:cubicBezTo>
                  <a:cubicBezTo>
                    <a:pt x="2543" y="371747"/>
                    <a:pt x="0" y="365608"/>
                    <a:pt x="0" y="359208"/>
                  </a:cubicBezTo>
                  <a:lnTo>
                    <a:pt x="0" y="24134"/>
                  </a:lnTo>
                  <a:cubicBezTo>
                    <a:pt x="0" y="17733"/>
                    <a:pt x="2543" y="11595"/>
                    <a:pt x="7069" y="7069"/>
                  </a:cubicBezTo>
                  <a:cubicBezTo>
                    <a:pt x="11595" y="2543"/>
                    <a:pt x="17733" y="0"/>
                    <a:pt x="24134" y="0"/>
                  </a:cubicBezTo>
                  <a:close/>
                </a:path>
              </a:pathLst>
            </a:custGeom>
            <a:solidFill>
              <a:srgbClr val="B70000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881FAF6-AFE1-E9A4-4D0D-10D9D7AE4ACC}"/>
                </a:ext>
              </a:extLst>
            </p:cNvPr>
            <p:cNvSpPr txBox="1"/>
            <p:nvPr/>
          </p:nvSpPr>
          <p:spPr>
            <a:xfrm>
              <a:off x="0" y="-38100"/>
              <a:ext cx="1173560" cy="421442"/>
            </a:xfrm>
            <a:prstGeom prst="rect">
              <a:avLst/>
            </a:prstGeom>
          </p:spPr>
          <p:txBody>
            <a:bodyPr lIns="184127" tIns="184127" rIns="184127" bIns="184127" rtlCol="0" anchor="ctr"/>
            <a:lstStyle/>
            <a:p>
              <a:pPr algn="ctr">
                <a:lnSpc>
                  <a:spcPts val="1819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ACDF1907-90BC-5511-0A7E-7F03C1F3E1AE}"/>
              </a:ext>
            </a:extLst>
          </p:cNvPr>
          <p:cNvSpPr txBox="1"/>
          <p:nvPr/>
        </p:nvSpPr>
        <p:spPr>
          <a:xfrm>
            <a:off x="702469" y="2341258"/>
            <a:ext cx="11210514" cy="2594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780" lvl="1" indent="-315390" algn="l">
              <a:lnSpc>
                <a:spcPts val="4090"/>
              </a:lnSpc>
              <a:buFont typeface="Arial"/>
              <a:buChar char="•"/>
            </a:pPr>
            <a:r>
              <a:rPr lang="en-US" sz="2921" b="1" spc="-14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MEMORIAIS DESCRITIVOS DAS MEDIDAS DE SEGURANÇA</a:t>
            </a:r>
          </a:p>
          <a:p>
            <a:pPr marL="630780" lvl="1" indent="-315390" algn="l">
              <a:lnSpc>
                <a:spcPts val="4090"/>
              </a:lnSpc>
              <a:buFont typeface="Arial"/>
              <a:buChar char="•"/>
            </a:pPr>
            <a:r>
              <a:rPr lang="en-US" sz="2921" b="1" spc="-14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PROJETO EM ARQUIVO PDF E DWG </a:t>
            </a:r>
          </a:p>
          <a:p>
            <a:pPr marL="630780" lvl="1" indent="-315390" algn="l">
              <a:lnSpc>
                <a:spcPts val="4090"/>
              </a:lnSpc>
              <a:buFont typeface="Arial"/>
              <a:buChar char="•"/>
            </a:pPr>
            <a:r>
              <a:rPr lang="en-US" sz="2921" b="1" spc="-14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PLANTA BAIXA DAS MEDIDAS DE SEGURANÇA</a:t>
            </a:r>
          </a:p>
          <a:p>
            <a:pPr marL="630780" lvl="1" indent="-315390" algn="l">
              <a:lnSpc>
                <a:spcPts val="4090"/>
              </a:lnSpc>
              <a:buFont typeface="Arial"/>
              <a:buChar char="•"/>
            </a:pPr>
            <a:r>
              <a:rPr lang="en-US" sz="2921" b="1" spc="-14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DETALHES GERAIS MEDIDAS DE SEGURANÇA.</a:t>
            </a:r>
          </a:p>
          <a:p>
            <a:pPr marL="630780" lvl="1" indent="-315390" algn="l">
              <a:lnSpc>
                <a:spcPts val="4090"/>
              </a:lnSpc>
              <a:buFont typeface="Arial"/>
              <a:buChar char="•"/>
            </a:pPr>
            <a:r>
              <a:rPr lang="en-US" sz="2921" b="1" spc="-14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ISOMETRICO HIDRANTES.</a:t>
            </a:r>
          </a:p>
        </p:txBody>
      </p:sp>
    </p:spTree>
    <p:extLst>
      <p:ext uri="{BB962C8B-B14F-4D97-AF65-F5344CB8AC3E}">
        <p14:creationId xmlns:p14="http://schemas.microsoft.com/office/powerpoint/2010/main" val="2095582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4BF6A-7497-C201-215E-9F21ED3F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20F680-330B-B42D-7E86-AA8D69026229}"/>
              </a:ext>
            </a:extLst>
          </p:cNvPr>
          <p:cNvSpPr/>
          <p:nvPr/>
        </p:nvSpPr>
        <p:spPr>
          <a:xfrm>
            <a:off x="16808391" y="604121"/>
            <a:ext cx="901818" cy="849157"/>
          </a:xfrm>
          <a:custGeom>
            <a:avLst/>
            <a:gdLst/>
            <a:ahLst/>
            <a:cxnLst/>
            <a:rect l="l" t="t" r="r" b="b"/>
            <a:pathLst>
              <a:path w="901818" h="849157">
                <a:moveTo>
                  <a:pt x="0" y="0"/>
                </a:moveTo>
                <a:lnTo>
                  <a:pt x="901818" y="0"/>
                </a:lnTo>
                <a:lnTo>
                  <a:pt x="901818" y="849158"/>
                </a:lnTo>
                <a:lnTo>
                  <a:pt x="0" y="84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87350FB-B0D0-653C-365D-A37B7433061C}"/>
              </a:ext>
            </a:extLst>
          </p:cNvPr>
          <p:cNvSpPr txBox="1"/>
          <p:nvPr/>
        </p:nvSpPr>
        <p:spPr>
          <a:xfrm>
            <a:off x="1028700" y="365996"/>
            <a:ext cx="15201900" cy="1389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18"/>
              </a:lnSpc>
              <a:spcBef>
                <a:spcPct val="0"/>
              </a:spcBef>
            </a:pPr>
            <a:r>
              <a:rPr lang="en-US" sz="8156" b="1" dirty="0">
                <a:solidFill>
                  <a:srgbClr val="B70000"/>
                </a:solidFill>
                <a:latin typeface="Poppins Bold"/>
                <a:ea typeface="Poppins Bold"/>
                <a:cs typeface="Poppins Bold"/>
                <a:sym typeface="Poppins Bold"/>
              </a:rPr>
              <a:t>PRAZOS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D98C725-89C1-873E-80FB-67722A8C21B5}"/>
              </a:ext>
            </a:extLst>
          </p:cNvPr>
          <p:cNvGrpSpPr/>
          <p:nvPr/>
        </p:nvGrpSpPr>
        <p:grpSpPr>
          <a:xfrm>
            <a:off x="702469" y="2152710"/>
            <a:ext cx="11869143" cy="5124389"/>
            <a:chOff x="0" y="0"/>
            <a:chExt cx="1173560" cy="38334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364DE0-8E76-39A7-E594-D5EF33B0D4AA}"/>
                </a:ext>
              </a:extLst>
            </p:cNvPr>
            <p:cNvSpPr/>
            <p:nvPr/>
          </p:nvSpPr>
          <p:spPr>
            <a:xfrm>
              <a:off x="0" y="0"/>
              <a:ext cx="1173560" cy="383342"/>
            </a:xfrm>
            <a:custGeom>
              <a:avLst/>
              <a:gdLst/>
              <a:ahLst/>
              <a:cxnLst/>
              <a:rect l="l" t="t" r="r" b="b"/>
              <a:pathLst>
                <a:path w="1173560" h="383342">
                  <a:moveTo>
                    <a:pt x="24134" y="0"/>
                  </a:moveTo>
                  <a:lnTo>
                    <a:pt x="1149426" y="0"/>
                  </a:lnTo>
                  <a:cubicBezTo>
                    <a:pt x="1155827" y="0"/>
                    <a:pt x="1161966" y="2543"/>
                    <a:pt x="1166492" y="7069"/>
                  </a:cubicBezTo>
                  <a:cubicBezTo>
                    <a:pt x="1171018" y="11595"/>
                    <a:pt x="1173560" y="17733"/>
                    <a:pt x="1173560" y="24134"/>
                  </a:cubicBezTo>
                  <a:lnTo>
                    <a:pt x="1173560" y="359208"/>
                  </a:lnTo>
                  <a:cubicBezTo>
                    <a:pt x="1173560" y="365608"/>
                    <a:pt x="1171018" y="371747"/>
                    <a:pt x="1166492" y="376273"/>
                  </a:cubicBezTo>
                  <a:cubicBezTo>
                    <a:pt x="1161966" y="380799"/>
                    <a:pt x="1155827" y="383342"/>
                    <a:pt x="1149426" y="383342"/>
                  </a:cubicBezTo>
                  <a:lnTo>
                    <a:pt x="24134" y="383342"/>
                  </a:lnTo>
                  <a:cubicBezTo>
                    <a:pt x="17733" y="383342"/>
                    <a:pt x="11595" y="380799"/>
                    <a:pt x="7069" y="376273"/>
                  </a:cubicBezTo>
                  <a:cubicBezTo>
                    <a:pt x="2543" y="371747"/>
                    <a:pt x="0" y="365608"/>
                    <a:pt x="0" y="359208"/>
                  </a:cubicBezTo>
                  <a:lnTo>
                    <a:pt x="0" y="24134"/>
                  </a:lnTo>
                  <a:cubicBezTo>
                    <a:pt x="0" y="17733"/>
                    <a:pt x="2543" y="11595"/>
                    <a:pt x="7069" y="7069"/>
                  </a:cubicBezTo>
                  <a:cubicBezTo>
                    <a:pt x="11595" y="2543"/>
                    <a:pt x="17733" y="0"/>
                    <a:pt x="24134" y="0"/>
                  </a:cubicBezTo>
                  <a:close/>
                </a:path>
              </a:pathLst>
            </a:custGeom>
            <a:solidFill>
              <a:srgbClr val="B70000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36E5904-E36A-CA4F-6B43-7FB75EC54A58}"/>
                </a:ext>
              </a:extLst>
            </p:cNvPr>
            <p:cNvSpPr txBox="1"/>
            <p:nvPr/>
          </p:nvSpPr>
          <p:spPr>
            <a:xfrm>
              <a:off x="0" y="-38100"/>
              <a:ext cx="1173560" cy="421442"/>
            </a:xfrm>
            <a:prstGeom prst="rect">
              <a:avLst/>
            </a:prstGeom>
          </p:spPr>
          <p:txBody>
            <a:bodyPr lIns="184127" tIns="184127" rIns="184127" bIns="184127" rtlCol="0" anchor="ctr"/>
            <a:lstStyle/>
            <a:p>
              <a:pPr algn="ctr">
                <a:lnSpc>
                  <a:spcPts val="1819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1192562-CF3C-188C-4E6D-EE01BB7A4EAB}"/>
              </a:ext>
            </a:extLst>
          </p:cNvPr>
          <p:cNvSpPr txBox="1"/>
          <p:nvPr/>
        </p:nvSpPr>
        <p:spPr>
          <a:xfrm>
            <a:off x="702469" y="2341258"/>
            <a:ext cx="11210514" cy="101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780" lvl="1" indent="-315390" algn="l">
              <a:lnSpc>
                <a:spcPts val="4090"/>
              </a:lnSpc>
              <a:buFont typeface="Arial"/>
              <a:buChar char="•"/>
            </a:pPr>
            <a:r>
              <a:rPr lang="pt-BR" sz="2921" b="1" spc="-14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30 dias úteis após o recebimento de todas as informações necessárias (arquitetura preliminar).</a:t>
            </a:r>
            <a:endParaRPr lang="en-US" sz="2921" b="1" spc="-14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985910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2469" y="800032"/>
            <a:ext cx="8742708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B70000"/>
                </a:solidFill>
                <a:latin typeface="Poppins Bold"/>
                <a:ea typeface="Poppins Bold"/>
                <a:cs typeface="Poppins Bold"/>
                <a:sym typeface="Poppins Bold"/>
              </a:rPr>
              <a:t>INVESTIMENTO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6829" y="2327207"/>
            <a:ext cx="3321802" cy="65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9"/>
              </a:lnSpc>
              <a:spcBef>
                <a:spcPct val="0"/>
              </a:spcBef>
            </a:pPr>
            <a:r>
              <a:rPr lang="en-US" sz="3614" b="1">
                <a:solidFill>
                  <a:srgbClr val="B7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CONDIÇÕES: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02469" y="2431982"/>
            <a:ext cx="7698001" cy="5428034"/>
            <a:chOff x="0" y="0"/>
            <a:chExt cx="899337" cy="6341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337" cy="634143"/>
            </a:xfrm>
            <a:custGeom>
              <a:avLst/>
              <a:gdLst/>
              <a:ahLst/>
              <a:cxnLst/>
              <a:rect l="l" t="t" r="r" b="b"/>
              <a:pathLst>
                <a:path w="899337" h="634143">
                  <a:moveTo>
                    <a:pt x="37211" y="0"/>
                  </a:moveTo>
                  <a:lnTo>
                    <a:pt x="862126" y="0"/>
                  </a:lnTo>
                  <a:cubicBezTo>
                    <a:pt x="871995" y="0"/>
                    <a:pt x="881460" y="3920"/>
                    <a:pt x="888438" y="10899"/>
                  </a:cubicBezTo>
                  <a:cubicBezTo>
                    <a:pt x="895416" y="17877"/>
                    <a:pt x="899337" y="27342"/>
                    <a:pt x="899337" y="37211"/>
                  </a:cubicBezTo>
                  <a:lnTo>
                    <a:pt x="899337" y="596932"/>
                  </a:lnTo>
                  <a:cubicBezTo>
                    <a:pt x="899337" y="617483"/>
                    <a:pt x="882677" y="634143"/>
                    <a:pt x="862126" y="634143"/>
                  </a:cubicBezTo>
                  <a:lnTo>
                    <a:pt x="37211" y="634143"/>
                  </a:lnTo>
                  <a:cubicBezTo>
                    <a:pt x="27342" y="634143"/>
                    <a:pt x="17877" y="630222"/>
                    <a:pt x="10899" y="623244"/>
                  </a:cubicBezTo>
                  <a:cubicBezTo>
                    <a:pt x="3920" y="616265"/>
                    <a:pt x="0" y="606801"/>
                    <a:pt x="0" y="596932"/>
                  </a:cubicBezTo>
                  <a:lnTo>
                    <a:pt x="0" y="37211"/>
                  </a:lnTo>
                  <a:cubicBezTo>
                    <a:pt x="0" y="16660"/>
                    <a:pt x="16660" y="0"/>
                    <a:pt x="37211" y="0"/>
                  </a:cubicBezTo>
                  <a:close/>
                </a:path>
              </a:pathLst>
            </a:custGeom>
            <a:solidFill>
              <a:srgbClr val="B7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99337" cy="662718"/>
            </a:xfrm>
            <a:prstGeom prst="rect">
              <a:avLst/>
            </a:prstGeom>
          </p:spPr>
          <p:txBody>
            <a:bodyPr lIns="155833" tIns="155833" rIns="155833" bIns="155833" rtlCol="0" anchor="ctr"/>
            <a:lstStyle/>
            <a:p>
              <a:pPr algn="ctr">
                <a:lnSpc>
                  <a:spcPts val="2077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360058"/>
            <a:ext cx="7371770" cy="941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0"/>
              </a:lnSpc>
            </a:pPr>
            <a:r>
              <a:rPr lang="en-US" sz="7211" spc="-36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R$ 10.000,00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4224767"/>
            <a:ext cx="6687084" cy="3044488"/>
            <a:chOff x="0" y="-57150"/>
            <a:chExt cx="8916113" cy="4059317"/>
          </a:xfrm>
        </p:grpSpPr>
        <p:sp>
          <p:nvSpPr>
            <p:cNvPr id="9" name="Freeform 9"/>
            <p:cNvSpPr/>
            <p:nvPr/>
          </p:nvSpPr>
          <p:spPr>
            <a:xfrm>
              <a:off x="47907" y="61212"/>
              <a:ext cx="405648" cy="405648"/>
            </a:xfrm>
            <a:custGeom>
              <a:avLst/>
              <a:gdLst/>
              <a:ahLst/>
              <a:cxnLst/>
              <a:rect l="l" t="t" r="r" b="b"/>
              <a:pathLst>
                <a:path w="405648" h="405648">
                  <a:moveTo>
                    <a:pt x="0" y="0"/>
                  </a:moveTo>
                  <a:lnTo>
                    <a:pt x="405648" y="0"/>
                  </a:lnTo>
                  <a:lnTo>
                    <a:pt x="405648" y="405648"/>
                  </a:lnTo>
                  <a:lnTo>
                    <a:pt x="0" y="40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7907" y="744750"/>
              <a:ext cx="405648" cy="405648"/>
            </a:xfrm>
            <a:custGeom>
              <a:avLst/>
              <a:gdLst/>
              <a:ahLst/>
              <a:cxnLst/>
              <a:rect l="l" t="t" r="r" b="b"/>
              <a:pathLst>
                <a:path w="405648" h="405648">
                  <a:moveTo>
                    <a:pt x="0" y="0"/>
                  </a:moveTo>
                  <a:lnTo>
                    <a:pt x="405648" y="0"/>
                  </a:lnTo>
                  <a:lnTo>
                    <a:pt x="405648" y="405648"/>
                  </a:lnTo>
                  <a:lnTo>
                    <a:pt x="0" y="40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7907" y="1405449"/>
              <a:ext cx="405648" cy="405648"/>
            </a:xfrm>
            <a:custGeom>
              <a:avLst/>
              <a:gdLst/>
              <a:ahLst/>
              <a:cxnLst/>
              <a:rect l="l" t="t" r="r" b="b"/>
              <a:pathLst>
                <a:path w="405648" h="405648">
                  <a:moveTo>
                    <a:pt x="0" y="0"/>
                  </a:moveTo>
                  <a:lnTo>
                    <a:pt x="405648" y="0"/>
                  </a:lnTo>
                  <a:lnTo>
                    <a:pt x="405648" y="405648"/>
                  </a:lnTo>
                  <a:lnTo>
                    <a:pt x="0" y="40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2770905"/>
              <a:ext cx="405648" cy="405648"/>
            </a:xfrm>
            <a:custGeom>
              <a:avLst/>
              <a:gdLst/>
              <a:ahLst/>
              <a:cxnLst/>
              <a:rect l="l" t="t" r="r" b="b"/>
              <a:pathLst>
                <a:path w="405648" h="405648">
                  <a:moveTo>
                    <a:pt x="0" y="0"/>
                  </a:moveTo>
                  <a:lnTo>
                    <a:pt x="405648" y="0"/>
                  </a:lnTo>
                  <a:lnTo>
                    <a:pt x="405648" y="405648"/>
                  </a:lnTo>
                  <a:lnTo>
                    <a:pt x="0" y="40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0243" y="2088177"/>
              <a:ext cx="405648" cy="405648"/>
            </a:xfrm>
            <a:custGeom>
              <a:avLst/>
              <a:gdLst/>
              <a:ahLst/>
              <a:cxnLst/>
              <a:rect l="l" t="t" r="r" b="b"/>
              <a:pathLst>
                <a:path w="405648" h="405648">
                  <a:moveTo>
                    <a:pt x="0" y="0"/>
                  </a:moveTo>
                  <a:lnTo>
                    <a:pt x="405648" y="0"/>
                  </a:lnTo>
                  <a:lnTo>
                    <a:pt x="405648" y="405648"/>
                  </a:lnTo>
                  <a:lnTo>
                    <a:pt x="0" y="40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615697" y="-57150"/>
              <a:ext cx="8300416" cy="4059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17"/>
                </a:lnSpc>
              </a:pPr>
              <a:r>
                <a:rPr lang="en-US" sz="286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Bim </a:t>
              </a:r>
              <a:r>
                <a:rPr lang="en-US" sz="2869" b="1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Modelagem</a:t>
              </a:r>
              <a:r>
                <a:rPr lang="en-US" sz="286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IFC.</a:t>
              </a:r>
            </a:p>
            <a:p>
              <a:pPr algn="l">
                <a:lnSpc>
                  <a:spcPts val="4017"/>
                </a:lnSpc>
              </a:pPr>
              <a:r>
                <a:rPr lang="en-US" sz="2869" b="1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Arquivos</a:t>
              </a:r>
              <a:r>
                <a:rPr lang="en-US" sz="286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2869" b="1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</a:t>
              </a:r>
              <a:r>
                <a:rPr lang="en-US" sz="286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DWG e PDF</a:t>
              </a:r>
            </a:p>
            <a:p>
              <a:pPr algn="l">
                <a:lnSpc>
                  <a:spcPts val="4017"/>
                </a:lnSpc>
              </a:pPr>
              <a:r>
                <a:rPr lang="en-US" sz="2869" b="1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Compatibilização</a:t>
              </a:r>
              <a:r>
                <a:rPr lang="en-US" sz="286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  <a:p>
              <a:pPr algn="l">
                <a:lnSpc>
                  <a:spcPts val="4017"/>
                </a:lnSpc>
              </a:pPr>
              <a:r>
                <a:rPr lang="en-US" sz="2869" b="1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Acompanhamento</a:t>
              </a:r>
              <a:r>
                <a:rPr lang="en-US" sz="286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da </a:t>
              </a:r>
              <a:r>
                <a:rPr lang="en-US" sz="2869" b="1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aprovação</a:t>
              </a:r>
              <a:r>
                <a:rPr lang="en-US" sz="286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  <a:p>
              <a:pPr algn="l">
                <a:lnSpc>
                  <a:spcPts val="4017"/>
                </a:lnSpc>
              </a:pPr>
              <a:r>
                <a:rPr lang="en-US" sz="2869" b="1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Responsabilidade</a:t>
              </a:r>
              <a:r>
                <a:rPr lang="en-US" sz="286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  <a:p>
              <a:pPr algn="l">
                <a:lnSpc>
                  <a:spcPts val="4017"/>
                </a:lnSpc>
                <a:spcBef>
                  <a:spcPct val="0"/>
                </a:spcBef>
              </a:pPr>
              <a:endParaRPr lang="en-US" sz="286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6808391" y="604121"/>
            <a:ext cx="901818" cy="849157"/>
          </a:xfrm>
          <a:custGeom>
            <a:avLst/>
            <a:gdLst/>
            <a:ahLst/>
            <a:cxnLst/>
            <a:rect l="l" t="t" r="r" b="b"/>
            <a:pathLst>
              <a:path w="901818" h="849157">
                <a:moveTo>
                  <a:pt x="0" y="0"/>
                </a:moveTo>
                <a:lnTo>
                  <a:pt x="901818" y="0"/>
                </a:lnTo>
                <a:lnTo>
                  <a:pt x="901818" y="849158"/>
                </a:lnTo>
                <a:lnTo>
                  <a:pt x="0" y="849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856409" y="3226469"/>
            <a:ext cx="650444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  <a:spcBef>
                <a:spcPct val="0"/>
              </a:spcBef>
            </a:pPr>
            <a:r>
              <a:rPr lang="en-US" sz="2857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À </a:t>
            </a:r>
            <a:r>
              <a:rPr lang="en-US" sz="2857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combinar</a:t>
            </a:r>
            <a:endParaRPr lang="en-US" sz="2857" dirty="0">
              <a:solidFill>
                <a:srgbClr val="150C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B1B3C792-01F1-18CF-7DAF-C9E483C63B00}"/>
              </a:ext>
            </a:extLst>
          </p:cNvPr>
          <p:cNvSpPr txBox="1"/>
          <p:nvPr/>
        </p:nvSpPr>
        <p:spPr>
          <a:xfrm>
            <a:off x="10744200" y="8572500"/>
            <a:ext cx="5690534" cy="87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Emanuel Da Natividade Rodrigues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Eng Civil – Crea-</a:t>
            </a:r>
            <a:r>
              <a:rPr lang="en-US" sz="2499" dirty="0" err="1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499" dirty="0">
                <a:solidFill>
                  <a:srgbClr val="150C20"/>
                </a:solidFill>
                <a:latin typeface="Poppins"/>
                <a:ea typeface="Poppins"/>
                <a:cs typeface="Poppins"/>
                <a:sym typeface="Poppins"/>
              </a:rPr>
              <a:t> 190806/D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7034</TotalTime>
  <Words>418</Words>
  <Application>Microsoft Office PowerPoint</Application>
  <PresentationFormat>Personalizar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Canva Sans Bold</vt:lpstr>
      <vt:lpstr>Calibri</vt:lpstr>
      <vt:lpstr>Arial</vt:lpstr>
      <vt:lpstr>Poppins</vt:lpstr>
      <vt:lpstr>League Spartan</vt:lpstr>
      <vt:lpstr>Poppins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Orçamento (SM PROJETOS)</dc:title>
  <dc:creator>User</dc:creator>
  <cp:lastModifiedBy>User</cp:lastModifiedBy>
  <cp:revision>33</cp:revision>
  <dcterms:created xsi:type="dcterms:W3CDTF">2006-08-16T00:00:00Z</dcterms:created>
  <dcterms:modified xsi:type="dcterms:W3CDTF">2026-08-17T12:05:23Z</dcterms:modified>
  <dc:identifier>DAGdlfK5ikg</dc:identifier>
</cp:coreProperties>
</file>